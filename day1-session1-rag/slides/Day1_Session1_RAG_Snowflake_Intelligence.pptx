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92440"/>
            <a:ext cx="14630400" cy="13716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Snowflake Workshop x Bank Nusantara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9B5E8"/>
                </a:solidFill>
              </a:defRPr>
            </a:pPr>
            <a:r>
              <a:t>Day 1 -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RAG Applications + Snowflake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FDBFE"/>
                </a:solidFill>
              </a:defRPr>
            </a:pPr>
            <a:r>
              <a:t>Membangun AI Banking Assistant dengan Snowflake Cortex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858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Powered by Snowflake Cortex AI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E3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Agenda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Part 1    Environment Setup &amp; Data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745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             - Create database, schema,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             - Upload PDF &amp; CSV files, COPY INTO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80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Part 2    Unstructured Data Processing &amp; Cortex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862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             - PDF extraction, text chunking, search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3891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371600" y="48920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Part 3    Structured Data &amp; Semantic View (Cortex Analyst)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949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             - Create Semantic View dengan metrics perbankan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8978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371600" y="64008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Part 4    Cortex Agent - AI Banking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9037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             - Multi-tool agent: Search + Analyst + Web +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74066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371600" y="79095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Part 5    Snowflake Intelligence - Publish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84124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             - Deploy agent untuk business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E3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Apa yang Akan Kita Bangun?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</a:defRPr>
            </a:pPr>
            <a:r>
              <a:t>AI Banking Assistant yang mampu: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</a:defRPr>
            </a:pPr>
            <a:r>
              <a:t>1.  Menjawab pertanyaan berdasarkan dokumen SOP internal bank (6 dokumen PDF)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060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</a:defRPr>
            </a:pPr>
            <a:r>
              <a:t>2.  Menganalisis data operasional perbankan: NPL, DPK, LDR, transaksi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</a:defRPr>
            </a:pPr>
            <a:r>
              <a:t>3.  Melakukan web search untuk regulasi &amp; informasi terkini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118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</a:defRPr>
            </a:pPr>
            <a:r>
              <a:t>4.  Memberikan jawaban: Fact-Based, Diagnostic, Recommendation +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148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</a:defRPr>
            </a:pPr>
            <a:r>
              <a:t>5.  Mengirim email notifikasi ke stakeholder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6177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</a:defRPr>
            </a:pPr>
            <a:r>
              <a:t>6.  Di-publish sebagai aplikasi untuk Relationship Manager, Risk Analyst, dll.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Semua dibangun di dalam Snowflake - tanpa infrastruktur ML terpisah, tanpa API LLM external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E3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Reference Architecture</a:t>
            </a:r>
          </a:p>
        </p:txBody>
      </p:sp>
      <p:pic>
        <p:nvPicPr>
          <p:cNvPr id="4" name="Picture 3" descr="architecture_day1_sessio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280160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E3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Part 1: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97706"/>
                </a:solidFill>
              </a:defRPr>
            </a:pPr>
            <a:r>
              <a:t>Unstructured Data (PDF)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  01. SOP Pembukaan Rekening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  02. Panduan KYC (Know Your Customer)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  03. Kebijakan Kredit UMKM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  04. Panduan Anti Money Laundering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  05. Prosedur Restrukturisasi Kredit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  06. Panduan Perbankan Digital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371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59669"/>
                </a:solidFill>
              </a:defRPr>
            </a:pPr>
            <a:r>
              <a:t>Structured Data (CSV)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0116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  DIM_CABANG       (67 cabang)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5146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  DIM_NASABAH      (10,000 nasabah)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0175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  FACT_TRANSAKSI   (100,000 transaksi)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5204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  FACT_KREDIT      (5,000 kredit)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023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  FACT_SIMPANAN    (15,000 simpanan)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7280"/>
                </a:solidFill>
              </a:defRPr>
            </a:pPr>
            <a:r>
              <a:t>Semua data menggunakan terminologi perbankan Indonesia yang realistis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E3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Part 1: Environment Setup &amp; Data Loading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Step 1.1   CREATE DATABASE &amp;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745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              - BANK_NUSANTARA_DB dengan schema RAW_DATA dan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371600" y="2880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Step 1.2   CREATE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              - STG_DOCUMENTS (untuk PDF) dan STG_CSV_DATA (untuk CSV)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862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371600" y="43891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Step 1.3   UPLOAD FILES ke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8920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              - Via Snowsight UI atau Snowflake 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949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371600" y="58978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Step 1.4   CREATE TABLE &amp; COPY INTO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4008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              - 5 tabel: DIM_CABANG, DIM_NASABAH, FACT_TRANSAKSI, FACT_KREDIT, FACT_SIMPANAN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9037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371600" y="74066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Step 1.5   VERIFIKASI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79095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              - Row count dan preview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E3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Part 2: Unstructured Data &amp; Cortex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Step 2.1   PARSE_DOCUMENT - Extract text dari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745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              SNOWFLAKE.CORTEX.PARSE_DOCUMENT(@stage, file, {'mode': 'LAYOUT'})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371600" y="2880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Step 2.2   SPLIT_TEXT_RECURSIVE_CHARACTER - Chunking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              Memecah dokumen menjadi chunks 1500 chars dengan 300 chars overlap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862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371600" y="43891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Step 2.3   CREATE CORTEX SEARCH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8920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              Hybrid search (semantic + keyword) pada chunks dokumen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949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371600" y="58978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Step 2.4   TEST - Coba tanya tentang SOP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4008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              "Apa syarat pembukaan rekening untuk WNA?"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9037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              "Bagaimana prosedur KYC untuk nasabah berisiko tinggi?"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74066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              "Apa red flags transaksi money laundering?"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E3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Cortex Search: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4572000" cy="1005840"/>
          </a:xfrm>
          <a:prstGeom prst="rect">
            <a:avLst/>
          </a:prstGeom>
          <a:solidFill>
            <a:srgbClr val="F3F4F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150876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PDF 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743200"/>
            <a:ext cx="4572000" cy="1005840"/>
          </a:xfrm>
          <a:prstGeom prst="rect">
            <a:avLst/>
          </a:prstGeom>
          <a:solidFill>
            <a:srgbClr val="F3F4F6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288036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PARSE_DOCUMENT</a:t>
            </a:r>
            <a:br/>
            <a:r>
              <a:t>(Extract Text)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114800"/>
            <a:ext cx="4572000" cy="1005840"/>
          </a:xfrm>
          <a:prstGeom prst="rect">
            <a:avLst/>
          </a:prstGeom>
          <a:solidFill>
            <a:srgbClr val="F3F4F6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425196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SPLIT_TEXT</a:t>
            </a:r>
            <a:br/>
            <a:r>
              <a:t>(Chunking)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5486400"/>
            <a:ext cx="4572000" cy="1005840"/>
          </a:xfrm>
          <a:prstGeom prst="rect">
            <a:avLst/>
          </a:prstGeom>
          <a:solidFill>
            <a:srgbClr val="F3F4F6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562356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t>Cortex Search</a:t>
            </a:r>
            <a:br/>
            <a:r>
              <a:t>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6858000"/>
            <a:ext cx="4572000" cy="1005840"/>
          </a:xfrm>
          <a:prstGeom prst="rect">
            <a:avLst/>
          </a:prstGeom>
          <a:solidFill>
            <a:srgbClr val="F3F4F6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699516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User Query</a:t>
            </a:r>
            <a:br/>
            <a:r>
              <a:t>(Natural Language)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860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Key Concepts:</a:t>
            </a:r>
            <a:br/>
            <a:br/>
            <a:r>
              <a:t>- Layout mode preserves</a:t>
            </a:r>
            <a:br/>
            <a:r>
              <a:t>  document structure</a:t>
            </a:r>
            <a:br/>
            <a:br/>
            <a:r>
              <a:t>- Chunk size: 1500 chars</a:t>
            </a:r>
            <a:br/>
            <a:r>
              <a:t>  Overlap: 300 chars</a:t>
            </a:r>
            <a:br/>
            <a:br/>
            <a:r>
              <a:t>- Hybrid search combines</a:t>
            </a:r>
            <a:br/>
            <a:r>
              <a:t>  semantic + keyword</a:t>
            </a:r>
            <a:br/>
            <a:br/>
            <a:r>
              <a:t>- Auto-refresh: 1 hour lag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E3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Part 3: Semantic View &amp; Cortex Analyst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59669"/>
                </a:solidFill>
              </a:defRPr>
            </a:pPr>
            <a:r>
              <a:t>Semantic View Components: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TABLES (5 tables with column descriptions &amp; synonyms)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146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  - NASABAH, CABANG, TRANSAKSI, KREDIT, SIMPANAN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371600" y="35204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RELATIONSHIPS (Foreign Keys)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23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  - Nasabah -&gt; Cabang, Transaksi -&gt; Nasabah, dll.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262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371600" y="50292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METRICS (8 banking metrics)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5321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  - TOTAL_DPK, NPL_RATIO, LDR, TOTAL_OUTSTANDING_KREDIT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0350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  - JUMLAH_NASABAH_AKTIF, TOTAL_VOLUME_TRANSAKSI, dll.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5379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371600" y="70408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FILTERS (5 named filters)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75438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  - NASABAH_AKTIF, TRANSAKSI_BERHASIL, KREDIT_BERMASALAH, dll.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8580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56DB"/>
                </a:solidFill>
              </a:defRPr>
            </a:pPr>
            <a:r>
              <a:t>Cortex Analyst menggunakan Semantic View untuk menghasilkan SQL dari natural language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E3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Banking Metrics dalam Semantic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TOTAL_DPK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Dana Pihak Ketiga - Total saldo simpanan aktif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SUM(saldo) WHERE status = 'Aktif'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NPL_RATIO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03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Non-Performing Loan Ratio (target &lt; 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103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Outstanding kol 3,4,5 / Total Outstanding *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LDR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43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Loan to Deposit Ratio (target 78-92%)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743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Total Kredit / Total DPK *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TOTAL_OUTSTANDING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383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Total sisa pokok pinjaman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383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SUM(outstanding)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JUMLAH_NASABAH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023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Jumlah nasabah aktif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023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COUNT(nasabah_id) WHERE aktif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VOL_TRANSAKSI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663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Total volume transaksi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663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SUM(jumlah) WHERE berhasil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400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97706"/>
                </a:solidFill>
              </a:defRPr>
            </a:pPr>
            <a:r>
              <a:t>Semua metrics menggunakan terminologi OJK (Otoritas Jasa Keuangan)</a:t>
            </a:r>
            <a:br/>
            <a:r>
              <a:t>Kolektibilitas: 1-Lancar, 2-DPK, 3-Kurang Lancar, 4-Diragukan, 5-Macet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E3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Part 4: Cortex Agent - AI Banking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</a:defRPr>
            </a:pPr>
            <a:r>
              <a:t>4 Tools dalam 1 Agent: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12801600" cy="1005840"/>
          </a:xfrm>
          <a:prstGeom prst="rect">
            <a:avLst/>
          </a:prstGeom>
          <a:solidFill>
            <a:srgbClr val="F9FAFB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</a:defRPr>
            </a:pPr>
            <a:r>
              <a:t>Cortex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2860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Menjawab dari dokumen SOP 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2860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SOP, KYC, AML, Kredit, Digital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383280"/>
            <a:ext cx="12801600" cy="1005840"/>
          </a:xfrm>
          <a:prstGeom prst="rect">
            <a:avLst/>
          </a:prstGeom>
          <a:solidFill>
            <a:srgbClr val="F9FAFB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4747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</a:defRPr>
            </a:pPr>
            <a:r>
              <a:t>Cortex Analyst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4747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Query data operasional via NL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4747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NPL, DPK, transaksi, nasabah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572000"/>
            <a:ext cx="12801600" cy="1005840"/>
          </a:xfrm>
          <a:prstGeom prst="rect">
            <a:avLst/>
          </a:prstGeom>
          <a:solidFill>
            <a:srgbClr val="F9FAF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6634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97706"/>
                </a:solidFill>
              </a:defRPr>
            </a:pPr>
            <a:r>
              <a:t>Web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6634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Informasi terkini dari internet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6634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Regulasi OJK, suku bunga BI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760720"/>
            <a:ext cx="12801600" cy="1005840"/>
          </a:xfrm>
          <a:prstGeom prst="rect">
            <a:avLst/>
          </a:prstGeom>
          <a:solidFill>
            <a:srgbClr val="F9FAFB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8521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</a:defRPr>
            </a:pPr>
            <a:r>
              <a:t>Send 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8521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Kirim notifikasi &amp; laporan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8521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Alert NPL, laporan harian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8580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7C3AED"/>
                </a:solidFill>
              </a:defRPr>
            </a:pPr>
            <a:r>
              <a:t>Agent secara otomatis memilih tool yang tepat berdasarkan pertanyaan user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E3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Jenis Jawaban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2801600" cy="1097280"/>
          </a:xfrm>
          <a:prstGeom prst="rect">
            <a:avLst/>
          </a:prstGeom>
          <a:solidFill>
            <a:srgbClr val="F9FAFB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</a:defRPr>
            </a:pPr>
            <a:r>
              <a:t>Fact-Based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225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</a:defRPr>
            </a:pPr>
            <a:r>
              <a:t>"Total DPK saat ini Rp 2.5 Triliun, naik 3% dari bulan lalu"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697480"/>
            <a:ext cx="12801600" cy="1097280"/>
          </a:xfrm>
          <a:prstGeom prst="rect">
            <a:avLst/>
          </a:prstGeom>
          <a:solidFill>
            <a:srgbClr val="F9FAF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97706"/>
                </a:solidFill>
              </a:defRPr>
            </a:pPr>
            <a:r>
              <a:t>Diagnostic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00400"/>
            <a:ext cx="1225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</a:defRPr>
            </a:pPr>
            <a:r>
              <a:t>"NPL ratio naik 2% karena sektor F&amp;B dan Properti terdampak penurunan ekonomi"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931920"/>
            <a:ext cx="12801600" cy="1097280"/>
          </a:xfrm>
          <a:prstGeom prst="rect">
            <a:avLst/>
          </a:prstGeom>
          <a:solidFill>
            <a:srgbClr val="F9FAFB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977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</a:defRPr>
            </a:pPr>
            <a:r>
              <a:t>Recommendation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434840"/>
            <a:ext cx="1225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</a:defRPr>
            </a:pPr>
            <a:r>
              <a:t>"Rekomendasi: fokus restrukturisasi di 3 cabang Jawa Barat dengan NPL &gt; 8%"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166360"/>
            <a:ext cx="12801600" cy="1097280"/>
          </a:xfrm>
          <a:prstGeom prst="rect">
            <a:avLst/>
          </a:prstGeom>
          <a:solidFill>
            <a:srgbClr val="F9FAF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212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Chart / Visualization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669280"/>
            <a:ext cx="1225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</a:defRPr>
            </a:pPr>
            <a:r>
              <a:t>Tabel, bar chart, line chart untuk memvisualisasikan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6400800"/>
            <a:ext cx="12801600" cy="1097280"/>
          </a:xfrm>
          <a:prstGeom prst="rect">
            <a:avLst/>
          </a:prstGeom>
          <a:solidFill>
            <a:srgbClr val="F9FAFB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6446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</a:defRPr>
            </a:pPr>
            <a:r>
              <a:t>Email Notification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6903720"/>
            <a:ext cx="1225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</a:defRPr>
            </a:pPr>
            <a:r>
              <a:t>"Laporan NPL telah dikirim ke risk.manager@banknusantara.co.id"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E3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Demo: Contoh Pertanyaan ke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Unstructured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"Apa syarat pembukaan rekening korporasi?"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59669"/>
                </a:solidFill>
              </a:defRPr>
            </a:pPr>
            <a:r>
              <a:t>-&gt; Cortex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Structured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5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"Berapa NPL ratio per jenis kredit?"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59669"/>
                </a:solidFill>
              </a:defRPr>
            </a:pPr>
            <a:r>
              <a:t>-&gt; Cortex Analyst +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Diagnostic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560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"Sektor ekonomi mana yang NPL-nya paling tinggi dan kenapa?"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59669"/>
                </a:solidFill>
              </a:defRPr>
            </a:pPr>
            <a:r>
              <a:t>-&gt; Analyst + AI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Web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1546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"Berapa suku bunga acuan BI saat ini?"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3154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59669"/>
                </a:solidFill>
              </a:defRPr>
            </a:pPr>
            <a:r>
              <a:t>-&gt; Web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Combined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49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"Jelaskan prosedur restrukturisasi dan berapa kredit yang perlu direstrukturisasi?"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3749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59669"/>
                </a:solidFill>
              </a:defRPr>
            </a:pPr>
            <a:r>
              <a:t>-&gt; Search + Analyst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343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"Kirim ringkasan NPL ke risk.manager@bank.co.id"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59669"/>
                </a:solidFill>
              </a:defRPr>
            </a:pPr>
            <a:r>
              <a:t>-&gt; Analyst + 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3AED"/>
                </a:solidFill>
              </a:defRPr>
            </a:pPr>
            <a:r>
              <a:t>AHA Moment:</a:t>
            </a:r>
            <a:br/>
            <a:r>
              <a:t>Dalam 1 session, kita membangun AI Assistant yang menggabungkan</a:t>
            </a:r>
            <a:br/>
            <a:r>
              <a:t>knowledge base dokumen + data warehouse + internet - semua di dalam Snowflake!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E3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Part 5: Snowflake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488"/>
                </a:solidFill>
              </a:defRPr>
            </a:pPr>
            <a:r>
              <a:t>Publish Agent sebagai Aplikasi untuk Business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3931920" cy="2286000"/>
          </a:xfrm>
          <a:prstGeom prst="rect">
            <a:avLst/>
          </a:prstGeom>
          <a:solidFill>
            <a:srgbClr val="F0FDF4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9488"/>
                </a:solidFill>
              </a:defRPr>
            </a:pPr>
            <a:r>
              <a:t>Relationship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F2937"/>
                </a:solidFill>
              </a:defRPr>
            </a:pPr>
            <a:r>
              <a:t>Ringkasan nasabah, SOP kredit,</a:t>
            </a:r>
            <a:br/>
            <a:r>
              <a:t>data portofolio untuk meeting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2286000"/>
            <a:ext cx="3931920" cy="2286000"/>
          </a:xfrm>
          <a:prstGeom prst="rect">
            <a:avLst/>
          </a:prstGeom>
          <a:solidFill>
            <a:srgbClr val="F0FDF4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2468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9488"/>
                </a:solidFill>
              </a:defRPr>
            </a:pPr>
            <a:r>
              <a:t>Risk 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1089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F2937"/>
                </a:solidFill>
              </a:defRPr>
            </a:pPr>
            <a:r>
              <a:t>NPL monitoring, early warning,</a:t>
            </a:r>
            <a:br/>
            <a:r>
              <a:t>analisis sektor ekonomi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0" y="2286000"/>
            <a:ext cx="3931920" cy="2286000"/>
          </a:xfrm>
          <a:prstGeom prst="rect">
            <a:avLst/>
          </a:prstGeom>
          <a:solidFill>
            <a:srgbClr val="F0FDF4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2468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9488"/>
                </a:solidFill>
              </a:defRPr>
            </a:pPr>
            <a:r>
              <a:t>Branch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31089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F2937"/>
                </a:solidFill>
              </a:defRPr>
            </a:pPr>
            <a:r>
              <a:t>Performa cabang, target vs aktual,</a:t>
            </a:r>
            <a:br/>
            <a:r>
              <a:t>ranking antar cabang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937"/>
                </a:solidFill>
              </a:defRPr>
            </a:pPr>
            <a:r>
              <a:t>Key Benefits:</a:t>
            </a:r>
            <a:br/>
            <a:br/>
            <a:r>
              <a:t>  - No SQL knowledge required - cukup tanya dalam bahasa natural</a:t>
            </a:r>
            <a:br/>
            <a:r>
              <a:t>  - Role-based access - setiap user hanya lihat data yang boleh diakses</a:t>
            </a:r>
            <a:br/>
            <a:r>
              <a:t>  - Multi-source answers - SOP + Database + Internet dalam satu jawaban</a:t>
            </a:r>
            <a:br/>
            <a:r>
              <a:t>  - Governance built-in - semua data tetap di dalam Snowflake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E3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Ringkasan: Apa yang Sudah Kita Bangun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</a:defRPr>
            </a:pPr>
            <a:r>
              <a:t>PARSE_DOCUMENT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937"/>
                </a:solidFill>
              </a:defRPr>
            </a:pPr>
            <a:r>
              <a:t>Extract text dari 6 PDF dokumen SOP 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</a:defRPr>
            </a:pPr>
            <a:r>
              <a:t>SPLIT_TEXT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202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937"/>
                </a:solidFill>
              </a:defRPr>
            </a:pPr>
            <a:r>
              <a:t>Chunking dokumen untuk pencarian optimal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</a:defRPr>
            </a:pPr>
            <a:r>
              <a:t>Cortex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4688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937"/>
                </a:solidFill>
              </a:defRPr>
            </a:pPr>
            <a:r>
              <a:t>Hybrid search pada dokumen SOP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</a:defRPr>
            </a:pPr>
            <a:r>
              <a:t>Semantic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017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937"/>
                </a:solidFill>
              </a:defRPr>
            </a:pPr>
            <a:r>
              <a:t>Data model 5 tabel dengan 8 metrics perbankan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</a:defRPr>
            </a:pPr>
            <a:r>
              <a:t>Cortex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5661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937"/>
                </a:solidFill>
              </a:defRPr>
            </a:pPr>
            <a:r>
              <a:t>Natural language query ke data operasional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</a:defRPr>
            </a:pPr>
            <a:r>
              <a:t>Cortex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1148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937"/>
                </a:solidFill>
              </a:defRPr>
            </a:pPr>
            <a:r>
              <a:t>Multi-tool AI assistant (Search + Analyst + Web + Email)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</a:defRPr>
            </a:pPr>
            <a:r>
              <a:t>Snowflake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6634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937"/>
                </a:solidFill>
              </a:defRPr>
            </a:pPr>
            <a:r>
              <a:t>Published agent untuk business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400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59669"/>
                </a:solidFill>
              </a:defRPr>
            </a:pPr>
            <a:r>
              <a:t>Semua berjalan di dalam Snowflake - Zero Infrastructure Management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92440"/>
            <a:ext cx="14630400" cy="13716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Hands-On Lab Time!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9B5E8"/>
                </a:solidFill>
              </a:defRPr>
            </a:pPr>
            <a:r>
              <a:t>Ikuti step-by-step di 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FDBFE"/>
                </a:solidFill>
              </a:defRPr>
            </a:pPr>
            <a:r>
              <a:t>Jangan ragu untuk bertanya!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6400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github.com/arzamuhammad/snowflake_bank_workshop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